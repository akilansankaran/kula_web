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34"/>
    <p:restoredTop sz="94610"/>
  </p:normalViewPr>
  <p:slideViewPr>
    <p:cSldViewPr snapToGrid="0" snapToObjects="1">
      <p:cViewPr>
        <p:scale>
          <a:sx n="67" d="100"/>
          <a:sy n="67" d="100"/>
        </p:scale>
        <p:origin x="86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58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534156" y="868680"/>
            <a:ext cx="5120640" cy="5120640"/>
          </a:xfrm>
          <a:prstGeom prst="ellipse">
            <a:avLst/>
          </a:prstGeom>
          <a:ln w="12700">
            <a:solidFill>
              <a:srgbClr val="C9A96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8E4DC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itchFamily="34" charset="-120"/>
              </a:rPr>
              <a:t>Ensuring you are always present with your loved ones </a:t>
            </a:r>
            <a:endParaRPr lang="en-US" sz="20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35634" y="4343400"/>
            <a:ext cx="1005840" cy="1005840"/>
          </a:xfrm>
          <a:prstGeom prst="ellipse">
            <a:avLst/>
          </a:prstGeom>
          <a:solidFill>
            <a:srgbClr val="5BB5A5"/>
          </a:solidFill>
          <a:ln w="12700">
            <a:solidFill>
              <a:srgbClr val="5B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34156" y="4343400"/>
            <a:ext cx="1005840" cy="1005840"/>
          </a:xfrm>
          <a:prstGeom prst="ellipse">
            <a:avLst/>
          </a:prstGeom>
          <a:ln w="508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936492" y="4745736"/>
            <a:ext cx="201168" cy="20116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04577" y="4343400"/>
            <a:ext cx="1005840" cy="1005840"/>
          </a:xfrm>
          <a:prstGeom prst="ellipse">
            <a:avLst/>
          </a:prstGeom>
          <a:ln w="508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249CBE-5A56-8353-C44E-3DC99D75541A}"/>
              </a:ext>
            </a:extLst>
          </p:cNvPr>
          <p:cNvSpPr txBox="1"/>
          <p:nvPr/>
        </p:nvSpPr>
        <p:spPr>
          <a:xfrm>
            <a:off x="795712" y="4223629"/>
            <a:ext cx="23509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kula</a:t>
            </a:r>
            <a:endParaRPr lang="en-US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7622" y="1407002"/>
            <a:ext cx="11365992" cy="2242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you spend more time with your loved ones during the workday?</a:t>
            </a:r>
          </a:p>
          <a:p>
            <a:pPr marL="0" indent="0" algn="l">
              <a:buNone/>
            </a:pPr>
            <a:endParaRPr lang="en-US" sz="2800" i="1" dirty="0">
              <a:solidFill>
                <a:srgbClr val="C9A96E"/>
              </a:solidFill>
              <a:latin typeface="Georgia" pitchFamily="34" charset="0"/>
            </a:endParaRPr>
          </a:p>
          <a:p>
            <a:pPr marL="0" indent="0" algn="l">
              <a:buNone/>
            </a:pPr>
            <a:r>
              <a:rPr lang="en-US" sz="2800" dirty="0">
                <a:solidFill>
                  <a:srgbClr val="C9A96E"/>
                </a:solidFill>
                <a:latin typeface="Georgia" pitchFamily="34" charset="0"/>
              </a:rPr>
              <a:t>... </a:t>
            </a:r>
            <a:r>
              <a:rPr lang="en-US" sz="4000" dirty="0">
                <a:solidFill>
                  <a:srgbClr val="C9A96E"/>
                </a:solidFill>
                <a:latin typeface="Georgia" pitchFamily="34" charset="0"/>
              </a:rPr>
              <a:t>96%</a:t>
            </a:r>
            <a:r>
              <a:rPr lang="en-US" sz="2800" dirty="0">
                <a:solidFill>
                  <a:srgbClr val="C9A96E"/>
                </a:solidFill>
                <a:latin typeface="Georgia" pitchFamily="34" charset="0"/>
              </a:rPr>
              <a:t> of professionals think they could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78" y="3805078"/>
            <a:ext cx="7957021" cy="1826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to reconnect is too high. Every tool demands you initiate, coordinate, remember. When you're running at full capacity, they become barriers — not bridges.</a:t>
            </a:r>
            <a:endParaRPr lang="en-US" sz="1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BAC183C-0A50-4EC9-03E5-F843CC89D941}"/>
              </a:ext>
            </a:extLst>
          </p:cNvPr>
          <p:cNvSpPr/>
          <p:nvPr/>
        </p:nvSpPr>
        <p:spPr>
          <a:xfrm>
            <a:off x="547622" y="689080"/>
            <a:ext cx="76135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E8E4DC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itchFamily="34" charset="-120"/>
              </a:rPr>
              <a:t>You meant to call. But you could not find the time. </a:t>
            </a:r>
            <a:endParaRPr lang="en-US" sz="28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00B2F15-24F8-17EC-901C-8FD1728D414D}"/>
              </a:ext>
            </a:extLst>
          </p:cNvPr>
          <p:cNvSpPr/>
          <p:nvPr/>
        </p:nvSpPr>
        <p:spPr>
          <a:xfrm>
            <a:off x="9888292" y="3584917"/>
            <a:ext cx="1005840" cy="1005840"/>
          </a:xfrm>
          <a:prstGeom prst="ellipse">
            <a:avLst/>
          </a:prstGeom>
          <a:solidFill>
            <a:srgbClr val="5BB5A5"/>
          </a:solidFill>
          <a:ln w="12700">
            <a:solidFill>
              <a:srgbClr val="5B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8841DF4-B9D3-64A2-4237-2B07DDFD641E}"/>
              </a:ext>
            </a:extLst>
          </p:cNvPr>
          <p:cNvSpPr/>
          <p:nvPr/>
        </p:nvSpPr>
        <p:spPr>
          <a:xfrm>
            <a:off x="10634472" y="4590757"/>
            <a:ext cx="1005840" cy="1005840"/>
          </a:xfrm>
          <a:prstGeom prst="ellipse">
            <a:avLst/>
          </a:prstGeom>
          <a:ln w="508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5227234-A89F-4280-F3B5-7BA5E7188019}"/>
              </a:ext>
            </a:extLst>
          </p:cNvPr>
          <p:cNvSpPr/>
          <p:nvPr/>
        </p:nvSpPr>
        <p:spPr>
          <a:xfrm>
            <a:off x="11036808" y="4993093"/>
            <a:ext cx="201168" cy="20116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D7E4943-FA28-829C-5CFD-0FFC892385D9}"/>
              </a:ext>
            </a:extLst>
          </p:cNvPr>
          <p:cNvSpPr/>
          <p:nvPr/>
        </p:nvSpPr>
        <p:spPr>
          <a:xfrm>
            <a:off x="9343279" y="4626160"/>
            <a:ext cx="1005840" cy="1005840"/>
          </a:xfrm>
          <a:prstGeom prst="ellipse">
            <a:avLst/>
          </a:prstGeom>
          <a:ln w="508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DD657A-1D64-DCE7-CB6A-E327B6E8E235}"/>
              </a:ext>
            </a:extLst>
          </p:cNvPr>
          <p:cNvSpPr txBox="1"/>
          <p:nvPr/>
        </p:nvSpPr>
        <p:spPr>
          <a:xfrm>
            <a:off x="547622" y="5787685"/>
            <a:ext cx="2685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kula</a:t>
            </a:r>
            <a:endParaRPr lang="en-US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15696" y="684072"/>
            <a:ext cx="692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E8E4DC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 pitchFamily="34" charset="-120"/>
              </a:rPr>
              <a:t>Ambient omnipresence. No notifications.</a:t>
            </a:r>
            <a:endParaRPr lang="en-US" sz="28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01952" y="2084832"/>
            <a:ext cx="768096" cy="768096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01509" y="2384389"/>
            <a:ext cx="168981" cy="168981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990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472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free. Your circle knows.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7116" y="2084832"/>
            <a:ext cx="768096" cy="768096"/>
          </a:xfrm>
          <a:prstGeom prst="ellipse">
            <a:avLst/>
          </a:prstGeom>
          <a:ln w="25400">
            <a:solidFill>
              <a:srgbClr val="8C8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69564" y="2990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Unavailable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86684" y="34472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mode. No interruptions.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15100" y="2084832"/>
            <a:ext cx="768096" cy="76809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27548" y="2990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44668" y="34472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tap. I'm here.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Kula connects to your calendar and switches your status automatically.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48215-AEA4-E2E1-40CA-889ADDAB3167}"/>
              </a:ext>
            </a:extLst>
          </p:cNvPr>
          <p:cNvSpPr txBox="1"/>
          <p:nvPr/>
        </p:nvSpPr>
        <p:spPr>
          <a:xfrm>
            <a:off x="547622" y="5787685"/>
            <a:ext cx="2685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kula</a:t>
            </a:r>
            <a:endParaRPr lang="en-US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moments.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110740" y="1572768"/>
            <a:ext cx="694944" cy="694944"/>
          </a:xfrm>
          <a:prstGeom prst="ellipse">
            <a:avLst/>
          </a:prstGeom>
          <a:solidFill>
            <a:srgbClr val="5BB5A5"/>
          </a:solidFill>
          <a:ln w="12700">
            <a:solidFill>
              <a:srgbClr val="5B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60932" y="1069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C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86612" y="245059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circle sees your status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47004" y="1572768"/>
            <a:ext cx="694944" cy="694944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18032" y="1843796"/>
            <a:ext cx="152888" cy="15288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97196" y="1069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C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22876" y="245059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availability surfaces itself. No coordination.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83268" y="1572768"/>
            <a:ext cx="694944" cy="694944"/>
          </a:xfrm>
          <a:prstGeom prst="ellipse">
            <a:avLst/>
          </a:prstGeom>
          <a:solidFill>
            <a:srgbClr val="E8906A"/>
          </a:solidFill>
          <a:ln w="12700">
            <a:solidFill>
              <a:srgbClr val="E89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33460" y="1069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C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359140" y="245059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a Pulse. No message. Just: I'm here.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4059D0-8670-82F0-AE5C-D2994F213BFB}"/>
              </a:ext>
            </a:extLst>
          </p:cNvPr>
          <p:cNvSpPr txBox="1"/>
          <p:nvPr/>
        </p:nvSpPr>
        <p:spPr>
          <a:xfrm>
            <a:off x="547622" y="5787685"/>
            <a:ext cx="2685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kula</a:t>
            </a:r>
            <a:endParaRPr lang="en-US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with you.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691640" y="1828800"/>
            <a:ext cx="640080" cy="640080"/>
          </a:xfrm>
          <a:prstGeom prst="ellipse">
            <a:avLst/>
          </a:prstGeom>
          <a:solidFill>
            <a:srgbClr val="5BB5A5">
              <a:alpha val="85000"/>
            </a:srgbClr>
          </a:solidFill>
          <a:ln w="25400">
            <a:solidFill>
              <a:srgbClr val="5B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9456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640080" cy="640080"/>
          </a:xfrm>
          <a:prstGeom prst="ellipse">
            <a:avLst/>
          </a:prstGeom>
          <a:solidFill>
            <a:srgbClr val="E8906A">
              <a:alpha val="85000"/>
            </a:srgbClr>
          </a:solidFill>
          <a:ln w="25400">
            <a:solidFill>
              <a:srgbClr val="E89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Laptop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91640" y="3840480"/>
            <a:ext cx="640080" cy="640080"/>
          </a:xfrm>
          <a:prstGeom prst="ellipse">
            <a:avLst/>
          </a:prstGeom>
          <a:solidFill>
            <a:srgbClr val="8B9EC8">
              <a:alpha val="85000"/>
            </a:srgbClr>
          </a:solidFill>
          <a:ln w="25400">
            <a:solidFill>
              <a:srgbClr val="8B9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Bracelet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3840480"/>
            <a:ext cx="640080" cy="640080"/>
          </a:xfrm>
          <a:prstGeom prst="ellipse">
            <a:avLst/>
          </a:prstGeom>
          <a:solidFill>
            <a:srgbClr val="C47A9E">
              <a:alpha val="85000"/>
            </a:srgbClr>
          </a:solidFill>
          <a:ln w="25400">
            <a:solidFill>
              <a:srgbClr val="C47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 lamp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hardware and software ecosystem.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10AF8-AA61-19B6-8030-8232580C4F31}"/>
              </a:ext>
            </a:extLst>
          </p:cNvPr>
          <p:cNvSpPr txBox="1"/>
          <p:nvPr/>
        </p:nvSpPr>
        <p:spPr>
          <a:xfrm>
            <a:off x="547622" y="5787685"/>
            <a:ext cx="2685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kula</a:t>
            </a:r>
            <a:endParaRPr lang="en-US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people who give everything.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219456" cy="219456"/>
          </a:xfrm>
          <a:prstGeom prst="ellipse">
            <a:avLst/>
          </a:prstGeom>
          <a:solidFill>
            <a:srgbClr val="5BB5A5"/>
          </a:solidFill>
          <a:ln w="12700">
            <a:solidFill>
              <a:srgbClr val="5B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9019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in tech, consulting, finance, and medicine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99232"/>
            <a:ext cx="219456" cy="219456"/>
          </a:xfrm>
          <a:prstGeom prst="ellipse">
            <a:avLst/>
          </a:prstGeom>
          <a:solidFill>
            <a:srgbClr val="E8906A"/>
          </a:solidFill>
          <a:ln w="12700">
            <a:solidFill>
              <a:srgbClr val="E89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907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Dual-career couples navigating parallel lives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05072"/>
            <a:ext cx="219456" cy="219456"/>
          </a:xfrm>
          <a:prstGeom prst="ellipse">
            <a:avLst/>
          </a:prstGeom>
          <a:solidFill>
            <a:srgbClr val="8B9EC8"/>
          </a:solidFill>
          <a:ln w="12700">
            <a:solidFill>
              <a:srgbClr val="8B9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9136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 children across different schedules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3C393-98DD-F347-C06D-9C039DF76EFF}"/>
              </a:ext>
            </a:extLst>
          </p:cNvPr>
          <p:cNvSpPr txBox="1"/>
          <p:nvPr/>
        </p:nvSpPr>
        <p:spPr>
          <a:xfrm>
            <a:off x="547622" y="5787685"/>
            <a:ext cx="2685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kula</a:t>
            </a:r>
            <a:endParaRPr lang="en-US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Kula because we lived it.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lectures and deadlines, the people we love most — parents across time zones, siblings, friends — started to feel further away. Finding the same open window felt impossible.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is always there. Finding it together is the problem Kula solves.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596128"/>
            <a:ext cx="512064" cy="512064"/>
          </a:xfrm>
          <a:prstGeom prst="ellipse">
            <a:avLst/>
          </a:prstGeom>
          <a:solidFill>
            <a:srgbClr val="5BB5A5">
              <a:alpha val="80000"/>
            </a:srgbClr>
          </a:solidFill>
          <a:ln w="12700">
            <a:solidFill>
              <a:srgbClr val="5B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0509" y="5596128"/>
            <a:ext cx="512064" cy="512064"/>
          </a:xfrm>
          <a:prstGeom prst="ellipse">
            <a:avLst/>
          </a:prstGeom>
          <a:solidFill>
            <a:srgbClr val="E8906A">
              <a:alpha val="80000"/>
            </a:srgbClr>
          </a:solidFill>
          <a:ln w="12700">
            <a:solidFill>
              <a:srgbClr val="E89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97FF5-407E-DD9D-82CB-55E236917F80}"/>
              </a:ext>
            </a:extLst>
          </p:cNvPr>
          <p:cNvSpPr txBox="1"/>
          <p:nvPr/>
        </p:nvSpPr>
        <p:spPr>
          <a:xfrm>
            <a:off x="547622" y="5787685"/>
            <a:ext cx="2685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kula</a:t>
            </a:r>
            <a:endParaRPr lang="en-US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2" y="1143000"/>
            <a:ext cx="4572000" cy="4572000"/>
          </a:xfrm>
          <a:prstGeom prst="ellipse">
            <a:avLst/>
          </a:prstGeom>
          <a:ln w="12700">
            <a:solidFill>
              <a:srgbClr val="C9A96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39912" y="1965960"/>
            <a:ext cx="2926080" cy="2926080"/>
          </a:xfrm>
          <a:prstGeom prst="ellipse">
            <a:avLst/>
          </a:prstGeom>
          <a:ln w="12700">
            <a:solidFill>
              <a:srgbClr val="C9A96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akilansankaran.github.io/kula_web/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first to bring Kula home. Early access, product updates, pre-order priority.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FAC4E-13B2-EE0D-CE9A-F37F60A2F4AE}"/>
              </a:ext>
            </a:extLst>
          </p:cNvPr>
          <p:cNvSpPr txBox="1"/>
          <p:nvPr/>
        </p:nvSpPr>
        <p:spPr>
          <a:xfrm>
            <a:off x="547622" y="5787685"/>
            <a:ext cx="2685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kula</a:t>
            </a:r>
            <a:endParaRPr lang="en-US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31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people who needed it.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651760" y="1920240"/>
            <a:ext cx="1097280" cy="1097280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651760" y="22677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920240"/>
            <a:ext cx="1097280" cy="1097280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22677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Harvard students who met at the Research Science Institute.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parents across time zones and lives that never quite slow down.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56157-F8A1-C792-1495-9E94E8199C9B}"/>
              </a:ext>
            </a:extLst>
          </p:cNvPr>
          <p:cNvSpPr txBox="1"/>
          <p:nvPr/>
        </p:nvSpPr>
        <p:spPr>
          <a:xfrm>
            <a:off x="547622" y="5787685"/>
            <a:ext cx="2685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kula</a:t>
            </a:r>
            <a:endParaRPr lang="en-US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53996" y="-411480"/>
            <a:ext cx="7680960" cy="7680960"/>
          </a:xfrm>
          <a:prstGeom prst="ellipse">
            <a:avLst/>
          </a:prstGeom>
          <a:ln w="12700">
            <a:solidFill>
              <a:srgbClr val="C9A96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first to bring Kula home.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hello@kula.app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314432" y="1691640"/>
            <a:ext cx="1005840" cy="1005840"/>
          </a:xfrm>
          <a:prstGeom prst="ellipse">
            <a:avLst/>
          </a:prstGeom>
          <a:solidFill>
            <a:srgbClr val="5BB5A5"/>
          </a:solidFill>
          <a:ln w="12700">
            <a:solidFill>
              <a:srgbClr val="5B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314432" y="2926080"/>
            <a:ext cx="1005840" cy="1005840"/>
          </a:xfrm>
          <a:prstGeom prst="ellipse">
            <a:avLst/>
          </a:prstGeom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6768" y="3328416"/>
            <a:ext cx="201168" cy="20116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14432" y="4160520"/>
            <a:ext cx="1005840" cy="1005840"/>
          </a:xfrm>
          <a:prstGeom prst="ellipse">
            <a:avLst/>
          </a:prstGeom>
          <a:ln w="25400">
            <a:solidFill>
              <a:srgbClr val="8C8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Kula</a:t>
            </a:r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B6BF41-0F03-5198-509E-38305ACC371D}"/>
              </a:ext>
            </a:extLst>
          </p:cNvPr>
          <p:cNvSpPr txBox="1"/>
          <p:nvPr/>
        </p:nvSpPr>
        <p:spPr>
          <a:xfrm>
            <a:off x="547622" y="5787685"/>
            <a:ext cx="2685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kula</a:t>
            </a:r>
            <a:endParaRPr lang="en-US" dirty="0">
              <a:solidFill>
                <a:schemeClr val="bg1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359</Words>
  <Application>Microsoft Macintosh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Baskerville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Kula — Pitch Deck</dc:title>
  <dc:subject>PptxGenJS Presentation</dc:subject>
  <dc:creator>Kula</dc:creator>
  <cp:lastModifiedBy>Singh, Aaryan</cp:lastModifiedBy>
  <cp:revision>4</cp:revision>
  <dcterms:created xsi:type="dcterms:W3CDTF">2026-03-20T22:34:05Z</dcterms:created>
  <dcterms:modified xsi:type="dcterms:W3CDTF">2026-03-21T01:15:35Z</dcterms:modified>
</cp:coreProperties>
</file>